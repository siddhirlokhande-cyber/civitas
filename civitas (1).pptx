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FFCCCC"/>
    <a:srgbClr val="FF7C80"/>
    <a:srgbClr val="660033"/>
    <a:srgbClr val="CC00CC"/>
    <a:srgbClr val="800080"/>
    <a:srgbClr val="F59E0B"/>
    <a:srgbClr val="666633"/>
    <a:srgbClr val="FF5050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34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6003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80008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926080"/>
            <a:ext cx="1828800" cy="1828800"/>
          </a:xfrm>
          <a:prstGeom prst="ellipse">
            <a:avLst/>
          </a:prstGeom>
          <a:solidFill>
            <a:srgbClr val="CC00CC">
              <a:alpha val="3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17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latin typeface="Stencil" panose="040409050D0802020404" pitchFamily="82" charset="0"/>
                <a:ea typeface="Trebuchet MS" pitchFamily="34" charset="-122"/>
                <a:cs typeface="Trebuchet MS" pitchFamily="34" charset="-120"/>
              </a:rPr>
              <a:t>CIVITAS</a:t>
            </a:r>
            <a:endParaRPr lang="en-US" sz="6400" dirty="0">
              <a:latin typeface="Stencil" panose="040409050D0802020404" pitchFamily="8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292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Civic Accountability Platform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20" y="3108960"/>
            <a:ext cx="5303520" cy="59436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1089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Power. Amplify People. Strengthen Democracy.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00080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Democracy should work every day — not just on election day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ED5446-C098-467E-B538-461932337F9D}"/>
              </a:ext>
            </a:extLst>
          </p:cNvPr>
          <p:cNvSpPr txBox="1"/>
          <p:nvPr/>
        </p:nvSpPr>
        <p:spPr>
          <a:xfrm>
            <a:off x="453550" y="3732193"/>
            <a:ext cx="18360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u="sng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TEAM</a:t>
            </a:r>
            <a:r>
              <a:rPr lang="en-US" sz="1400" i="1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1400" i="1" u="sng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NAGRIKS:-</a:t>
            </a:r>
          </a:p>
          <a:p>
            <a:r>
              <a:rPr lang="en-US" sz="1400" i="1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HARSH</a:t>
            </a: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1400" i="1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NALAWADE</a:t>
            </a: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   </a:t>
            </a:r>
            <a:r>
              <a:rPr lang="en-US" sz="1400" i="1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SIDDHI</a:t>
            </a: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1400" i="1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LOKHANDE</a:t>
            </a:r>
          </a:p>
          <a:p>
            <a:r>
              <a:rPr lang="en-US" sz="1400" i="1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PRACHI</a:t>
            </a: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1400" i="1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PANDIT</a:t>
            </a:r>
            <a:endParaRPr lang="en-IN" sz="1400" i="1" dirty="0">
              <a:solidFill>
                <a:schemeClr val="tx2">
                  <a:lumMod val="50000"/>
                </a:schemeClr>
              </a:solidFill>
              <a:latin typeface="Bahnschrift SemiBold SemiConden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governance is broken between elections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17830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73152" cy="1783080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Promise Tracking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Politicians make hundreds of promises during campaigns. Once elected, there is no structured system to monitor, record, or evaluate whether those commitments are fulfilled.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114800" cy="17830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97280"/>
            <a:ext cx="73152" cy="1783080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280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Broken Complaint Systems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28032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have no reliable channel to report civic issues — broken roads, water failures, power outages — or to follow up on whether their complaints were ever resolved.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3017520"/>
            <a:ext cx="4114800" cy="17830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017520"/>
            <a:ext cx="73152" cy="1783080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004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54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Opaque Public Spending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38912" y="3657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budgets and expenditure data are rarely accessible to ordinary citizens, enabling misuse of public funds with zero community oversight or accountability.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3017520"/>
            <a:ext cx="4114800" cy="17830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3017520"/>
            <a:ext cx="73152" cy="1783080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2004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154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Inactive Democracy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28032" y="3657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engagement collapses after election day. Without ongoing participation tools, democracy becomes a 5-year event rather than a living system of daily accountability.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CIVITAS is a unified digital civic platform that bridges the gap between citizens and their elected officials — creating a continuous loop of accountability, transparency, and participation.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chemeClr val="accent6">
              <a:lumMod val="50000"/>
              <a:alpha val="45000"/>
            </a:scheme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965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of political promises and official performance scores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chemeClr val="accent6">
              <a:lumMod val="75000"/>
              <a:alpha val="45000"/>
            </a:scheme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97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civic complaint system with deadlines and escalation paths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chemeClr val="accent6">
              <a:lumMod val="60000"/>
              <a:lumOff val="40000"/>
              <a:alpha val="45000"/>
            </a:schemeClr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access to government financial data and public spending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chemeClr val="accent6">
              <a:lumMod val="40000"/>
              <a:lumOff val="60000"/>
              <a:alpha val="45000"/>
            </a:schemeClr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16052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public discussion forums to enable informed civic debate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platform. Four pillars. Endless accountability.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828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6052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</a:rPr>
              <a:t>AUTHORIZATION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" y="1490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830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earn points for completing commitments on time and lose points for delays and failures. Scores are public, transparent, and updated in real-time — creating direct accountability pressure.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60520" cy="18288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41605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782312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</a:rPr>
              <a:t>OPINION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82312" y="1490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Reporting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18888" y="17830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upload civic issues with geo-tagged photos. The system automatically routes complaints to the responsible authority with assigned deadlines, automatic escalation, and resolution confirmation.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60520" cy="18288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4160520" cy="41148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</a:rPr>
              <a:t>ASSEMBLY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Discussion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37490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moderated civic forum where residents, officials, and subject experts can debate local policies, budgets, and proposals — turning passive observers into active democratic participants.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60520" cy="1828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4160520" cy="4114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</a:rPr>
              <a:t>FINANCIAL RESERVE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8231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Transparency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37490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that aggregates public spending data, budget allocations, tender outcomes, and expenditure reports — making government finances fully auditable by citizens and journalists.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OPINION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Civic Issue Resolution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645920" cy="3657600"/>
          </a:xfrm>
          <a:prstGeom prst="rect">
            <a:avLst/>
          </a:prstGeom>
          <a:solidFill>
            <a:schemeClr val="bg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uploads an issue with a photo and GPS-tagged location via mobile or web app.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92808" y="1709928"/>
            <a:ext cx="73152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1984248" y="1051560"/>
            <a:ext cx="1645920" cy="36576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188720"/>
            <a:ext cx="640080" cy="640080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84248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75688" y="246888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identifies the responsible authority (municipality, district, ward) and automatically assigns the complaint.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48456" y="1709928"/>
            <a:ext cx="73152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39896" y="1051560"/>
            <a:ext cx="1645920" cy="3657600"/>
          </a:xfrm>
          <a:prstGeom prst="rect">
            <a:avLst/>
          </a:prstGeom>
          <a:solidFill>
            <a:schemeClr val="bg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42816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242816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39896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31336" y="246888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resolution deadline is set based on issue severity and authority SLA. Both citizen and official are notified.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04104" y="1709928"/>
            <a:ext cx="73152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Shape 21"/>
          <p:cNvSpPr/>
          <p:nvPr/>
        </p:nvSpPr>
        <p:spPr>
          <a:xfrm>
            <a:off x="5495544" y="1051560"/>
            <a:ext cx="1645920" cy="36576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98464" y="1188720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Text 23"/>
          <p:cNvSpPr/>
          <p:nvPr/>
        </p:nvSpPr>
        <p:spPr>
          <a:xfrm>
            <a:off x="5998464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95544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86984" y="246888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unresolved past deadline, the issue auto-escalates to higher authorities and becomes visible on the public dashboard.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59752" y="1709928"/>
            <a:ext cx="73152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Shape 27"/>
          <p:cNvSpPr/>
          <p:nvPr/>
        </p:nvSpPr>
        <p:spPr>
          <a:xfrm>
            <a:off x="7251192" y="1051560"/>
            <a:ext cx="1645920" cy="3657600"/>
          </a:xfrm>
          <a:prstGeom prst="rect">
            <a:avLst/>
          </a:prstGeom>
          <a:solidFill>
            <a:schemeClr val="bg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54112" y="118872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775411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51192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42632" y="246888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marks the issue as resolved. The citizen receives a notification and confirms — closing the accountability loop.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AUTHORIZATION SCORING SYSTEM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elected official and government officer has a live, publicly viewable AUTHORIZATION score — an objective performance rating built from real civic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Promise fulfilled on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+15 pts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76856"/>
            <a:ext cx="8229600" cy="45720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7685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Civic complaint resolved before deadline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22768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 pts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706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Budget released transparently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770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+8 pts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64408"/>
            <a:ext cx="8229600" cy="45720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644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Complaint deadline missed (1st time)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3264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−5 pts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8229600" cy="45720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5818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Promise broken or withdrawn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7581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−20 pts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519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Repeated unresolved complaints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−15 pts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C00000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MANDAAT scores trigger public alerts, media visibility, and formal review processes by independent auditors.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A6CB37-1F4F-D3D9-801C-7A003E83FA40}"/>
              </a:ext>
            </a:extLst>
          </p:cNvPr>
          <p:cNvSpPr/>
          <p:nvPr/>
        </p:nvSpPr>
        <p:spPr>
          <a:xfrm>
            <a:off x="-99893" y="-24339"/>
            <a:ext cx="9343785" cy="960504"/>
          </a:xfrm>
          <a:prstGeom prst="rect">
            <a:avLst/>
          </a:prstGeom>
          <a:solidFill>
            <a:srgbClr val="CC00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AUTHORIZATION : THE SCORING SYSTEM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B8210F-C863-2202-27B3-DC1AFF20625A}"/>
              </a:ext>
            </a:extLst>
          </p:cNvPr>
          <p:cNvSpPr txBox="1"/>
          <p:nvPr/>
        </p:nvSpPr>
        <p:spPr>
          <a:xfrm>
            <a:off x="111418" y="1008416"/>
            <a:ext cx="9032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The heart of CIVITAS. AUTHORIZATION translates governance performance into a real-time, public-facing score for every elected and appointed official. This score is persistent, transparent, and tied to real consequences</a:t>
            </a:r>
            <a:r>
              <a:rPr lang="en-US" sz="1200" dirty="0"/>
              <a:t>.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C6B46-2903-3ABD-C3D8-63FA718A0011}"/>
              </a:ext>
            </a:extLst>
          </p:cNvPr>
          <p:cNvSpPr txBox="1"/>
          <p:nvPr/>
        </p:nvSpPr>
        <p:spPr>
          <a:xfrm>
            <a:off x="480457" y="1612004"/>
            <a:ext cx="2693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Score Architecture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914371-08BD-DCE2-E797-3E63A7774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1" y="2053587"/>
            <a:ext cx="8076816" cy="275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17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alphaModFix amt="85000"/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USES CIVITAS?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37490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01168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51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Citizens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civic issues with evidence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elected officials' performance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3063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public ASSEMBLY debates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749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government spending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04872" y="1051560"/>
            <a:ext cx="2011680" cy="37490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4872" y="1051560"/>
            <a:ext cx="2011680" cy="54864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3" name="Text 11"/>
          <p:cNvSpPr/>
          <p:nvPr/>
        </p:nvSpPr>
        <p:spPr>
          <a:xfrm>
            <a:off x="2404872" y="1051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Politicians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constituent complaints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96312" y="2377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and update promises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96312" y="3063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AUTHORIZATION score publicly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96312" y="3749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governance record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81144" y="1051560"/>
            <a:ext cx="2011680" cy="37490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81144" y="1051560"/>
            <a:ext cx="201168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581144" y="1051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Govt Officers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72584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routed issue assignments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72584" y="2377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resolution timelines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72584" y="3063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complaint status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72584" y="3749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departmental accountability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57416" y="1051560"/>
            <a:ext cx="2011680" cy="37490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57416" y="1051560"/>
            <a:ext cx="2011680" cy="5486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7" name="Text 25"/>
          <p:cNvSpPr/>
          <p:nvPr/>
        </p:nvSpPr>
        <p:spPr>
          <a:xfrm>
            <a:off x="6757416" y="1051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48856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Cross-verify spending data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48856" y="2377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suspicious transactions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48856" y="3063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performance review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48856" y="3749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accountability reports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7C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37490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116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288036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officials fulfill promises when performance is publicly tracked vs. when it is not.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2011680" cy="37490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51560"/>
            <a:ext cx="2011680" cy="7315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2344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B4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450592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88036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civic engagement when residents have structured, easy-to-use reporting tools.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51560"/>
            <a:ext cx="2011680" cy="37490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51560"/>
            <a:ext cx="201168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12344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↓40%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626864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Corruption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6592" y="288036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misuse of public funds when spending data is open and auditable by citizens.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1051560"/>
            <a:ext cx="2011680" cy="37490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05156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2344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2×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803136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12864" y="288036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public trust in local government institutions within two years of platform adoption.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66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ROLLOUT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8229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6060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011680" cy="141732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2011680" cy="1920240"/>
          </a:xfrm>
          <a:prstGeom prst="rect">
            <a:avLst/>
          </a:prstGeom>
          <a:solidFill>
            <a:srgbClr val="1B4F8C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2724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1 city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features: OPINION + AUTHORIZATION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82219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10,000 citizens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6966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 municipality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51713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 &amp; iterate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37560" y="26060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2651760" y="1005840"/>
            <a:ext cx="2011680" cy="141732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5176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3063240"/>
            <a:ext cx="2011680" cy="1920240"/>
          </a:xfrm>
          <a:prstGeom prst="rect">
            <a:avLst/>
          </a:prstGeom>
          <a:solidFill>
            <a:srgbClr val="1B4F8C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312724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 major cities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0" y="34747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ASSEMBLY discussion forums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0" y="382219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full release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0" y="416966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partnership for score transparency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0" y="451713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active users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32120" y="2606040"/>
            <a:ext cx="274320" cy="274320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28" name="Shape 26"/>
          <p:cNvSpPr/>
          <p:nvPr/>
        </p:nvSpPr>
        <p:spPr>
          <a:xfrm>
            <a:off x="4846320" y="1005840"/>
            <a:ext cx="2011680" cy="1417320"/>
          </a:xfrm>
          <a:prstGeom prst="rect">
            <a:avLst/>
          </a:prstGeom>
          <a:solidFill>
            <a:srgbClr val="1B4F8C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463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063240"/>
            <a:ext cx="2011680" cy="1920240"/>
          </a:xfrm>
          <a:prstGeom prst="rect">
            <a:avLst/>
          </a:prstGeom>
          <a:solidFill>
            <a:srgbClr val="1B4F8C">
              <a:alpha val="4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12724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 RESERVE financial module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37760" y="34747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government integration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7760" y="382219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users across 50+ cities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416966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 for civic developers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37760" y="451713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certification program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26680" y="2606040"/>
            <a:ext cx="274320" cy="2743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9" name="Shape 37"/>
          <p:cNvSpPr/>
          <p:nvPr/>
        </p:nvSpPr>
        <p:spPr>
          <a:xfrm>
            <a:off x="7040880" y="1005840"/>
            <a:ext cx="2011680" cy="1417320"/>
          </a:xfrm>
          <a:prstGeom prst="rect">
            <a:avLst/>
          </a:prstGeom>
          <a:solidFill>
            <a:srgbClr val="E11D48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04088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&amp; Global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4088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4-5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40880" y="3063240"/>
            <a:ext cx="2011680" cy="1920240"/>
          </a:xfrm>
          <a:prstGeom prst="rect">
            <a:avLst/>
          </a:prstGeom>
          <a:solidFill>
            <a:srgbClr val="1B4F8C">
              <a:alpha val="4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0" y="312724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platform rollout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32320" y="34747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28 Indian states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32320" y="382219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South Asia &amp; Africa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32320" y="416966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civic tech partnership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132320" y="451713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active citizens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7C80">
              <a:alpha val="5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CCCC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60033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latin typeface="Stencil" panose="040409050D0802020404" pitchFamily="82" charset="0"/>
                <a:ea typeface="Trebuchet MS" pitchFamily="34" charset="-122"/>
                <a:cs typeface="Trebuchet MS" pitchFamily="34" charset="-120"/>
              </a:rPr>
              <a:t>CIVITAS</a:t>
            </a:r>
            <a:endParaRPr lang="en-US" sz="4800" dirty="0">
              <a:latin typeface="Stencil" panose="040409050D0802020404" pitchFamily="8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Democracy. Every Day</a:t>
            </a:r>
            <a:r>
              <a:rPr lang="en-US" sz="2200" i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02920" y="2743200"/>
            <a:ext cx="7772400" cy="50292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743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become active stakeholders, not passive voters.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3310128"/>
            <a:ext cx="7772400" cy="50292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3101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are held accountable 365 days a year.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3877056"/>
            <a:ext cx="7772400" cy="50292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87705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becomes transparent, measurable, and trusted.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00080"/>
          </a:solidFill>
          <a:ln/>
        </p:spPr>
      </p:sp>
      <p:sp>
        <p:nvSpPr>
          <p:cNvPr id="15" name="Text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 Power. Amplify People. Strengthen Democracy.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929</Words>
  <Application>Microsoft Office PowerPoint</Application>
  <PresentationFormat>On-screen Show (16:9)</PresentationFormat>
  <Paragraphs>155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Bahnschrift SemiBold SemiConden</vt:lpstr>
      <vt:lpstr>Calibri</vt:lpstr>
      <vt:lpstr>Stencil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CIVITAS - Civic Accountability Platform</dc:title>
  <dc:subject>PptxGenJS Presentation</dc:subject>
  <dc:creator>PptxGenJS</dc:creator>
  <cp:lastModifiedBy>panditprachi@outlook.com</cp:lastModifiedBy>
  <cp:revision>5</cp:revision>
  <dcterms:created xsi:type="dcterms:W3CDTF">2026-04-23T10:13:34Z</dcterms:created>
  <dcterms:modified xsi:type="dcterms:W3CDTF">2026-04-24T13:57:00Z</dcterms:modified>
</cp:coreProperties>
</file>